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48495" y="4572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9448495" y="457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 FIFA 2026 READY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MEXIPAY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8351215" y="3017520"/>
            <a:ext cx="329184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01168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 Anywhere.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Hardware. No Commission.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Proposal for Arteria / Cuenca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008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IFPE Wallet Infrastructure for Mexico's First Cashless World Cup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Quantor · Mexico City · 2026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51215" y="6309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picassoglitch/mexipay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Mexico's merchant payment stack is broken — and FIFA 2026 will expose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32918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Fees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3.6%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 charges up to 3.6% per transaction — eating directly into thin merchant margins on every sale.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611880" cy="32918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Cost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80060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$500–2,000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4800600" y="37490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Clip-style POS requires hardware ranging $600–$2,500 MXN, blocking small merchants from going cashless.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611880" cy="329184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01168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18320" y="20116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FIFA 2026 Gap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64108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5.5M tourists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8641080" y="37490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visitors will arrive with no QR option that works without hardware — and merchants without contactless lose them.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303520"/>
            <a:ext cx="10911535" cy="1005840"/>
          </a:xfrm>
          <a:prstGeom prst="roundRect">
            <a:avLst>
              <a:gd name="adj" fmla="val 10909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5413248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1.2M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22960" y="5806440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 merchants without POS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338218" y="5413248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4338218" y="5806440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small merchants still cash-only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853477" y="5413248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$11B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7853477" y="5806440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tourism spend at FIFA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One scan. Money lands in the merchant's wallet — instantly.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63942" y="1920240"/>
            <a:ext cx="1280160" cy="1280160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262" y="219456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78342" y="178308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7" name="Text 4"/>
          <p:cNvSpPr/>
          <p:nvPr/>
        </p:nvSpPr>
        <p:spPr>
          <a:xfrm>
            <a:off x="2278342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MexiPay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3621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launches the app — no card, no terminal.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44102" y="2560320"/>
            <a:ext cx="144772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4091826" y="1920240"/>
            <a:ext cx="1280160" cy="1280160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146" y="2194560"/>
            <a:ext cx="731520" cy="731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06226" y="178308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0"/>
          <p:cNvSpPr/>
          <p:nvPr/>
        </p:nvSpPr>
        <p:spPr>
          <a:xfrm>
            <a:off x="500622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50844" y="3383280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 QR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50844" y="3749040"/>
            <a:ext cx="23621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camera at merchant's QR sticker.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371986" y="2560320"/>
            <a:ext cx="144772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6819710" y="1920240"/>
            <a:ext cx="1280160" cy="1280160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030" y="2194560"/>
            <a:ext cx="731520" cy="73152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734109" y="178308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1" name="Text 16"/>
          <p:cNvSpPr/>
          <p:nvPr/>
        </p:nvSpPr>
        <p:spPr>
          <a:xfrm>
            <a:off x="7734109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78728" y="3383280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Confirm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78728" y="3749040"/>
            <a:ext cx="23621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authorize. Biometric secured.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99869" y="2560320"/>
            <a:ext cx="144772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9547593" y="1920240"/>
            <a:ext cx="1280160" cy="1280160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913" y="2194560"/>
            <a:ext cx="731520" cy="73152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461993" y="178308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8" name="Text 22"/>
          <p:cNvSpPr/>
          <p:nvPr/>
        </p:nvSpPr>
        <p:spPr>
          <a:xfrm>
            <a:off x="10461993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006611" y="3383280"/>
            <a:ext cx="236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Merchant Paid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006611" y="3749040"/>
            <a:ext cx="23621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 settles in seconds via Cuenca.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26568" y="49377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0F244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8" y="521208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295248" y="5212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 Commission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655168" y="5852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keep 100%.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3306928" y="49377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0F2440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5528" y="5212080"/>
            <a:ext cx="548640" cy="5486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175608" y="5212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 In-App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3535528" y="5852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POS, no hardware.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187288" y="49377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0F2440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888" y="5212080"/>
            <a:ext cx="548640" cy="54864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055968" y="5212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SPEI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6415888" y="5852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settle in seconds.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9067648" y="493776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0F244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248" y="5212080"/>
            <a:ext cx="548640" cy="54864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936328" y="52120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Foreign Tourists</a:t>
            </a:r>
            <a:endParaRPr lang="en-US" sz="1400" dirty="0"/>
          </a:p>
        </p:txBody>
      </p:sp>
      <p:sp>
        <p:nvSpPr>
          <p:cNvPr id="46" name="Text 36"/>
          <p:cNvSpPr/>
          <p:nvPr/>
        </p:nvSpPr>
        <p:spPr>
          <a:xfrm>
            <a:off x="9296248" y="5852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FIFA visitors.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Arteria × Cuenca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MexiPay needs an IFPE. Arteria Connect ships one as an API. The fit is exact.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4572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1168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Cuenca via Arteria Connect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26974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bring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200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154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IFPE under Mexico's Ley Fintech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576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6118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500K+ active end-user accounts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148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17320" y="4069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$1B+ MXN processed annually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7200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17320" y="4526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for embedded wallet creation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02920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17320" y="49834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SPEI transfers + Mastercard issuance</a:t>
            </a:r>
            <a:endParaRPr lang="en-US" sz="13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48640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417320" y="5440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/ AML / compliance fully handled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263640" y="1691640"/>
            <a:ext cx="5303520" cy="45720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2057400"/>
            <a:ext cx="548640" cy="5486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26948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MexiPay Brings to Arteria</a:t>
            </a:r>
            <a:endParaRPr lang="en-US" sz="2000" dirty="0"/>
          </a:p>
        </p:txBody>
      </p:sp>
      <p:sp>
        <p:nvSpPr>
          <p:cNvPr id="23" name="Text 13"/>
          <p:cNvSpPr/>
          <p:nvPr/>
        </p:nvSpPr>
        <p:spPr>
          <a:xfrm>
            <a:off x="662940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&amp; growth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662940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25" name="Text 15"/>
          <p:cNvSpPr/>
          <p:nvPr/>
        </p:nvSpPr>
        <p:spPr>
          <a:xfrm>
            <a:off x="7132320" y="3154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to FIFA 2026 merchant network</a:t>
            </a:r>
            <a:endParaRPr lang="en-US" sz="1300" dirty="0"/>
          </a:p>
        </p:txBody>
      </p:sp>
      <p:sp>
        <p:nvSpPr>
          <p:cNvPr id="26" name="Text 16"/>
          <p:cNvSpPr/>
          <p:nvPr/>
        </p:nvSpPr>
        <p:spPr>
          <a:xfrm>
            <a:off x="662940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27" name="Text 17"/>
          <p:cNvSpPr/>
          <p:nvPr/>
        </p:nvSpPr>
        <p:spPr>
          <a:xfrm>
            <a:off x="713232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new Cuenca-powered accounts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6629400" y="4160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7132320" y="4160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QR merchant network across CDMX &amp; host cities</a:t>
            </a:r>
            <a:endParaRPr lang="en-US" sz="1300" dirty="0"/>
          </a:p>
        </p:txBody>
      </p:sp>
      <p:sp>
        <p:nvSpPr>
          <p:cNvPr id="30" name="Text 20"/>
          <p:cNvSpPr/>
          <p:nvPr/>
        </p:nvSpPr>
        <p:spPr>
          <a:xfrm>
            <a:off x="662940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7132320" y="4663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product, design &amp; engineering team in-house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6629400" y="5166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33" name="Text 23"/>
          <p:cNvSpPr/>
          <p:nvPr/>
        </p:nvSpPr>
        <p:spPr>
          <a:xfrm>
            <a:off x="7132320" y="5166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active merchants pre-World Cup target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recurring revenue + interchange. Aligned with Arteria from day 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4023360"/>
          </a:xfrm>
          <a:prstGeom prst="roundRect">
            <a:avLst>
              <a:gd name="adj" fmla="val 4557"/>
            </a:avLst>
          </a:prstGeom>
          <a:solidFill>
            <a:srgbClr val="0F2440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Merchant Plan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2461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$299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month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4434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acceptance unlimited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47274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4727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SPEI deposits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0120" y="50200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43000" y="50200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dashboard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5312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531266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80560" y="1691640"/>
            <a:ext cx="3611880" cy="4023360"/>
          </a:xfrm>
          <a:prstGeom prst="roundRect">
            <a:avLst>
              <a:gd name="adj" fmla="val 4557"/>
            </a:avLst>
          </a:prstGeom>
          <a:solidFill>
            <a:srgbClr val="0F2440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37960" y="15087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 POPULAR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0060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Merchant Pro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800600" y="32461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$599</a:t>
            </a:r>
            <a:endParaRPr lang="en-US" sz="4400" dirty="0"/>
          </a:p>
        </p:txBody>
      </p:sp>
      <p:sp>
        <p:nvSpPr>
          <p:cNvPr id="23" name="Text 19"/>
          <p:cNvSpPr/>
          <p:nvPr/>
        </p:nvSpPr>
        <p:spPr>
          <a:xfrm>
            <a:off x="4800600" y="4023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MXN / month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0060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983480" y="4434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Merchant Plan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800600" y="47274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983480" y="4727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&amp; staff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800600" y="50200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983480" y="50200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reconciliation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800600" y="5312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4983480" y="531266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+ Mastercard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8321040" y="1691640"/>
            <a:ext cx="3611880" cy="4023360"/>
          </a:xfrm>
          <a:prstGeom prst="roundRect">
            <a:avLst>
              <a:gd name="adj" fmla="val 4557"/>
            </a:avLst>
          </a:prstGeom>
          <a:solidFill>
            <a:srgbClr val="0F2440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011680"/>
            <a:ext cx="640080" cy="6400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64108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Interchange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8641080" y="32461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0.5%</a:t>
            </a:r>
            <a:endParaRPr lang="en-US" sz="4400" dirty="0"/>
          </a:p>
        </p:txBody>
      </p:sp>
      <p:sp>
        <p:nvSpPr>
          <p:cNvPr id="36" name="Text 31"/>
          <p:cNvSpPr/>
          <p:nvPr/>
        </p:nvSpPr>
        <p:spPr>
          <a:xfrm>
            <a:off x="8641080" y="40233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card volume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641080" y="4434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8823960" y="44348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Arteria Mastercard rails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641080" y="472744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8823960" y="4727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with Cuenca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641080" y="502005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8823960" y="50200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merchant overhead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641080" y="53126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·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8823960" y="531266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automatically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40080" y="5943600"/>
            <a:ext cx="10911535" cy="640080"/>
          </a:xfrm>
          <a:prstGeom prst="roundRect">
            <a:avLst>
              <a:gd name="adj" fmla="val 17143"/>
            </a:avLst>
          </a:prstGeom>
          <a:solidFill>
            <a:srgbClr val="FFB703"/>
          </a:solidFill>
          <a:ln/>
        </p:spPr>
      </p:sp>
      <p:sp>
        <p:nvSpPr>
          <p:cNvPr id="46" name="Text 41"/>
          <p:cNvSpPr/>
          <p:nvPr/>
        </p:nvSpPr>
        <p:spPr>
          <a:xfrm>
            <a:off x="640080" y="59436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 merchants × $299 MXN = $299K MXN / month recurring   ·   + interchange upside via Arteria Mastercard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scaffolded monorepo to FIFA 2026 launch in 14 months.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0362895" cy="0"/>
          </a:xfrm>
          <a:prstGeom prst="line">
            <a:avLst/>
          </a:prstGeom>
          <a:noFill/>
          <a:ln w="508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93392"/>
            <a:ext cx="402336" cy="402336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-9144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-91440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Scaffolded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03956" y="1993392"/>
            <a:ext cx="402336" cy="402336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52" y="20756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99284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2025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499284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STP/SPEI Exploration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94680" y="1993392"/>
            <a:ext cx="402336" cy="402336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94680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90008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 2026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90008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Arteria API Integration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485403" y="1993392"/>
            <a:ext cx="402336" cy="402336"/>
          </a:xfrm>
          <a:prstGeom prst="ellipse">
            <a:avLst/>
          </a:prstGeom>
          <a:solidFill>
            <a:srgbClr val="00B4D8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85403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680731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680731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· 100 Merchants CDMX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1076127" y="1993392"/>
            <a:ext cx="402336" cy="402336"/>
          </a:xfrm>
          <a:prstGeom prst="ellipse">
            <a:avLst/>
          </a:prstGeom>
          <a:solidFill>
            <a:srgbClr val="FFB703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11076127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0271455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 2026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271455" y="2560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 2026 Launch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0080" y="4114800"/>
            <a:ext cx="10911535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8912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54480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Asking Arteria For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1463040" y="5074920"/>
            <a:ext cx="2692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Access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22960" y="5669280"/>
            <a:ext cx="32409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sandbox + production access to Arteria Connect for embedded wallets, SPEI, and Mastercard issuance.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338218" y="5074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28"/>
          <p:cNvSpPr/>
          <p:nvPr/>
        </p:nvSpPr>
        <p:spPr>
          <a:xfrm>
            <a:off x="4338218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4978298" y="5074920"/>
            <a:ext cx="2692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Commercial Terms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4338218" y="5669280"/>
            <a:ext cx="32409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Preferential pricing aligned to a high-volume FIFA 2026 partner — interchange + per-account economics.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853477" y="5074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2"/>
          <p:cNvSpPr/>
          <p:nvPr/>
        </p:nvSpPr>
        <p:spPr>
          <a:xfrm>
            <a:off x="7853477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8493557" y="5074920"/>
            <a:ext cx="26922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Sandbox in 60 Days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7853477" y="5669280"/>
            <a:ext cx="32409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kickoff, sandbox keys, and integration support to ship our first end-to-end transaction within 60 days.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2743200"/>
            <a:ext cx="6400800" cy="640080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9456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the Payment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 for FIFA 2026 Together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MexiPay + Arteria + Cuenca = Mexico's first fully embedded, license-backed QR wallet.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81248" y="4754880"/>
            <a:ext cx="5029200" cy="868680"/>
          </a:xfrm>
          <a:prstGeom prst="roundRect">
            <a:avLst>
              <a:gd name="adj" fmla="val 47368"/>
            </a:avLst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581248" y="47548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Schedule a Call  →  arteria.xyz/connect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MexiPay  ·  picassoglitch/mexipay  ·  Mexico City, MX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Quantor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MexiPay × Arteria / Cuenca — Partnership Proposal</dc:title>
  <dc:subject>PptxGenJS Presentation</dc:subject>
  <dc:creator>MexiPay</dc:creator>
  <cp:lastModifiedBy>MexiPay</cp:lastModifiedBy>
  <cp:revision>1</cp:revision>
  <dcterms:created xsi:type="dcterms:W3CDTF">2026-05-06T14:12:44Z</dcterms:created>
  <dcterms:modified xsi:type="dcterms:W3CDTF">2026-05-06T14:12:44Z</dcterms:modified>
</cp:coreProperties>
</file>